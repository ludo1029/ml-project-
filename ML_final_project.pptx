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C1C997-6B5B-9F54-2ABD-C463264A5D0D}" v="2613" dt="2025-12-11T23:34:09.700"/>
    <p1510:client id="{F3DC6DBC-B0B4-A719-072B-F72E4EF7E2CE}" v="751" dt="2025-12-12T12:26:17.4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5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72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57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11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4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22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8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36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20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461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2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26" r:id="rId6"/>
    <p:sldLayoutId id="2147483822" r:id="rId7"/>
    <p:sldLayoutId id="2147483823" r:id="rId8"/>
    <p:sldLayoutId id="2147483824" r:id="rId9"/>
    <p:sldLayoutId id="2147483825" r:id="rId10"/>
    <p:sldLayoutId id="214748382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8" name="Picture 17" descr="Avion noir et blanc">
            <a:extLst>
              <a:ext uri="{FF2B5EF4-FFF2-40B4-BE49-F238E27FC236}">
                <a16:creationId xmlns:a16="http://schemas.microsoft.com/office/drawing/2014/main" id="{BD4CC451-4BDE-0404-75B0-CEB262C16D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" t="16734" r="1138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20040" y="5900854"/>
            <a:ext cx="8027544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300" b="0">
                <a:ea typeface="+mj-lt"/>
                <a:cs typeface="+mj-lt"/>
              </a:rPr>
              <a:t>Preventive maintenance of Propeller</a:t>
            </a:r>
          </a:p>
          <a:p>
            <a:endParaRPr lang="fr-FR" sz="330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347585" y="5715000"/>
            <a:ext cx="3630168" cy="960120"/>
          </a:xfrm>
        </p:spPr>
        <p:txBody>
          <a:bodyPr anchor="ctr">
            <a:normAutofit/>
          </a:bodyPr>
          <a:lstStyle/>
          <a:p>
            <a:pPr algn="r"/>
            <a:r>
              <a:rPr lang="fr-FR" sz="1800"/>
              <a:t>By Ludovic Bocquillon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B7A74-943D-FF9A-8108-7B43E96E9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 Case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FD288-0DD2-CD31-04D8-DDE3DB844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40992"/>
            <a:ext cx="10691265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>
                <a:ea typeface="+mn-lt"/>
                <a:cs typeface="+mn-lt"/>
              </a:rPr>
              <a:t>Vibration</a:t>
            </a:r>
            <a:r>
              <a:rPr lang="en-US" sz="1800">
                <a:ea typeface="+mn-lt"/>
                <a:cs typeface="+mn-lt"/>
              </a:rPr>
              <a:t>: "periodic oscillatory motion of an object around a central reference point"</a:t>
            </a: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Vibration analysis allows for the detection of defects in rotating machinery before they cause critical failures. </a:t>
            </a:r>
          </a:p>
        </p:txBody>
      </p:sp>
      <p:pic>
        <p:nvPicPr>
          <p:cNvPr id="5" name="Picture 4" descr="types of car engines">
            <a:extLst>
              <a:ext uri="{FF2B5EF4-FFF2-40B4-BE49-F238E27FC236}">
                <a16:creationId xmlns:a16="http://schemas.microsoft.com/office/drawing/2014/main" id="{02B51925-FBDD-6DC0-C2DA-9F166FC5A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49" y="3043767"/>
            <a:ext cx="2743200" cy="1828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Éolienne de 100 kW à&amp;nbsp;Fair Isle (Écosse). © Dave Wheeler, Geograph, cc by sa 2.0">
            <a:extLst>
              <a:ext uri="{FF2B5EF4-FFF2-40B4-BE49-F238E27FC236}">
                <a16:creationId xmlns:a16="http://schemas.microsoft.com/office/drawing/2014/main" id="{C22EE59A-C0A5-C901-144C-C845C8623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565" y="3044536"/>
            <a:ext cx="2669116" cy="18166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The Basics of Airplane Propellers and How They Work">
            <a:extLst>
              <a:ext uri="{FF2B5EF4-FFF2-40B4-BE49-F238E27FC236}">
                <a16:creationId xmlns:a16="http://schemas.microsoft.com/office/drawing/2014/main" id="{A830F86D-9F99-A11A-F5D9-2D7046A13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6733" y="3043767"/>
            <a:ext cx="2700867" cy="1828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Graphic 11" descr="Jumelles avec un remplissage uni">
            <a:extLst>
              <a:ext uri="{FF2B5EF4-FFF2-40B4-BE49-F238E27FC236}">
                <a16:creationId xmlns:a16="http://schemas.microsoft.com/office/drawing/2014/main" id="{8A637814-3169-6404-F4B3-AEA2B00A82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4618" y="5073073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AC1C8E-9DCF-BC4B-0F48-0CE7983AFAE4}"/>
              </a:ext>
            </a:extLst>
          </p:cNvPr>
          <p:cNvSpPr txBox="1"/>
          <p:nvPr/>
        </p:nvSpPr>
        <p:spPr>
          <a:xfrm>
            <a:off x="2201029" y="5338929"/>
            <a:ext cx="13467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/>
              <a:t>Detect</a:t>
            </a:r>
          </a:p>
        </p:txBody>
      </p:sp>
      <p:pic>
        <p:nvPicPr>
          <p:cNvPr id="14" name="Graphic 13" descr="Mille avec un remplissage uni">
            <a:extLst>
              <a:ext uri="{FF2B5EF4-FFF2-40B4-BE49-F238E27FC236}">
                <a16:creationId xmlns:a16="http://schemas.microsoft.com/office/drawing/2014/main" id="{B242C19E-1013-782D-D7CD-6EF73E0EAB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5254" y="5119255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2EB0F58-3E85-83A2-D6FE-900EA665ACC9}"/>
              </a:ext>
            </a:extLst>
          </p:cNvPr>
          <p:cNvSpPr txBox="1"/>
          <p:nvPr/>
        </p:nvSpPr>
        <p:spPr>
          <a:xfrm>
            <a:off x="5791665" y="5373565"/>
            <a:ext cx="13467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/>
              <a:t>Identify</a:t>
            </a:r>
          </a:p>
        </p:txBody>
      </p:sp>
      <p:pic>
        <p:nvPicPr>
          <p:cNvPr id="16" name="Graphic 15" descr="Horloge avec un remplissage uni">
            <a:extLst>
              <a:ext uri="{FF2B5EF4-FFF2-40B4-BE49-F238E27FC236}">
                <a16:creationId xmlns:a16="http://schemas.microsoft.com/office/drawing/2014/main" id="{888605E5-B102-B5DC-8A8D-500391E06C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71345" y="5119255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73DC972-DD8B-FF9F-A834-ED4053F39816}"/>
              </a:ext>
            </a:extLst>
          </p:cNvPr>
          <p:cNvSpPr txBox="1"/>
          <p:nvPr/>
        </p:nvSpPr>
        <p:spPr>
          <a:xfrm>
            <a:off x="9497755" y="5373565"/>
            <a:ext cx="13467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/>
              <a:t>Predict</a:t>
            </a:r>
          </a:p>
        </p:txBody>
      </p:sp>
    </p:spTree>
    <p:extLst>
      <p:ext uri="{BB962C8B-B14F-4D97-AF65-F5344CB8AC3E}">
        <p14:creationId xmlns:p14="http://schemas.microsoft.com/office/powerpoint/2010/main" val="976974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263B-5666-7B48-FA55-84BAB0A37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&amp; Objectives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F0A703-CA19-E2DF-644A-69EF0D44D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4126" y="1916777"/>
            <a:ext cx="8715375" cy="3657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7A5347-8351-B058-FE9B-93D72179B39B}"/>
              </a:ext>
            </a:extLst>
          </p:cNvPr>
          <p:cNvSpPr txBox="1"/>
          <p:nvPr/>
        </p:nvSpPr>
        <p:spPr>
          <a:xfrm>
            <a:off x="265545" y="2597727"/>
            <a:ext cx="271318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Calibri"/>
                <a:ea typeface="Calibri"/>
              </a:rPr>
              <a:t>Predict the imbalance level (wear-out / broken blade)</a:t>
            </a:r>
            <a:endParaRPr lang="en-US" spc="-2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Linked to Academic course and Association project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84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6A235-0BE0-4D5A-F63C-EB790B107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Setup / Data collection</a:t>
            </a:r>
          </a:p>
        </p:txBody>
      </p:sp>
      <p:pic>
        <p:nvPicPr>
          <p:cNvPr id="4" name="Content Placeholder 3" descr="Compteur moyen contour">
            <a:extLst>
              <a:ext uri="{FF2B5EF4-FFF2-40B4-BE49-F238E27FC236}">
                <a16:creationId xmlns:a16="http://schemas.microsoft.com/office/drawing/2014/main" id="{E1B70994-B78A-BA49-9429-035C9B370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030" y="3219316"/>
            <a:ext cx="833718" cy="851647"/>
          </a:xfrm>
          <a:prstGeom prst="rect">
            <a:avLst/>
          </a:prstGeom>
        </p:spPr>
      </p:pic>
      <p:pic>
        <p:nvPicPr>
          <p:cNvPr id="5" name="Graphic 4" descr="Poids inégaux avec un remplissage uni">
            <a:extLst>
              <a:ext uri="{FF2B5EF4-FFF2-40B4-BE49-F238E27FC236}">
                <a16:creationId xmlns:a16="http://schemas.microsoft.com/office/drawing/2014/main" id="{7ABEE2A6-8D14-772D-F5E6-0A75D53725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8149" y="1896035"/>
            <a:ext cx="914400" cy="914400"/>
          </a:xfrm>
          <a:prstGeom prst="rect">
            <a:avLst/>
          </a:prstGeom>
        </p:spPr>
      </p:pic>
      <p:pic>
        <p:nvPicPr>
          <p:cNvPr id="6" name="Graphic 5" descr="Routeur sans fil contour">
            <a:extLst>
              <a:ext uri="{FF2B5EF4-FFF2-40B4-BE49-F238E27FC236}">
                <a16:creationId xmlns:a16="http://schemas.microsoft.com/office/drawing/2014/main" id="{E9483035-0D40-7EC2-032F-E79525E268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8871" y="4468906"/>
            <a:ext cx="914400" cy="9144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2455C15-D327-45D8-A214-CAC0A0D3AAD2}"/>
              </a:ext>
            </a:extLst>
          </p:cNvPr>
          <p:cNvGrpSpPr/>
          <p:nvPr/>
        </p:nvGrpSpPr>
        <p:grpSpPr>
          <a:xfrm>
            <a:off x="2794340" y="2030814"/>
            <a:ext cx="7722431" cy="654186"/>
            <a:chOff x="1922361" y="1897268"/>
            <a:chExt cx="7722431" cy="65418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8F39DC2-1DB6-DEB9-88A5-34650E818455}"/>
                </a:ext>
              </a:extLst>
            </p:cNvPr>
            <p:cNvSpPr txBox="1"/>
            <p:nvPr/>
          </p:nvSpPr>
          <p:spPr>
            <a:xfrm>
              <a:off x="1922361" y="1897268"/>
              <a:ext cx="7722431" cy="6541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5 degrees of imbalance :  5 datasets</a:t>
              </a:r>
            </a:p>
            <a:p>
              <a:r>
                <a:rPr lang="en-US"/>
                <a:t>0 : no imbalance    1 : small imbalance   4 : strong imbalance 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A809ECD-3979-F74A-9912-A197B0F750C7}"/>
                </a:ext>
              </a:extLst>
            </p:cNvPr>
            <p:cNvCxnSpPr/>
            <p:nvPr/>
          </p:nvCxnSpPr>
          <p:spPr>
            <a:xfrm flipV="1">
              <a:off x="3679112" y="2380284"/>
              <a:ext cx="369356" cy="7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415D122-F61F-B12B-5995-C0E7CE6C1F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5792" y="2372428"/>
              <a:ext cx="369356" cy="7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4F2332D-D5AF-6416-5647-F6C460C1787B}"/>
              </a:ext>
            </a:extLst>
          </p:cNvPr>
          <p:cNvSpPr txBox="1"/>
          <p:nvPr/>
        </p:nvSpPr>
        <p:spPr>
          <a:xfrm>
            <a:off x="2796619" y="349970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rotation speed varied between approx. 630 and 2330 RPM</a:t>
            </a:r>
            <a:r>
              <a:t> 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B31EAF-0DC8-833A-2570-1AC4E3221896}"/>
              </a:ext>
            </a:extLst>
          </p:cNvPr>
          <p:cNvSpPr txBox="1"/>
          <p:nvPr/>
        </p:nvSpPr>
        <p:spPr>
          <a:xfrm>
            <a:off x="2505959" y="4725186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69240"/>
            <a:r>
              <a:rPr lang="en-US"/>
              <a:t>sampling rate of 4096 values per second.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13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7D789-E7DD-31F0-E4EC-30FFA85A2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EB882-8CEB-4986-EC5E-5044F4D19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904" y="1441407"/>
            <a:ext cx="5420343" cy="45018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endParaRPr lang="en-US" b="1">
              <a:ea typeface="+mn-lt"/>
              <a:cs typeface="+mn-lt"/>
            </a:endParaRPr>
          </a:p>
          <a:p>
            <a:pPr marL="342900" indent="-342900"/>
            <a:r>
              <a:rPr lang="en-US" b="1" err="1">
                <a:ea typeface="+mn-lt"/>
                <a:cs typeface="+mn-lt"/>
              </a:rPr>
              <a:t>V_in</a:t>
            </a:r>
            <a:r>
              <a:rPr lang="en-US">
                <a:ea typeface="+mn-lt"/>
                <a:cs typeface="+mn-lt"/>
              </a:rPr>
              <a:t>: Input voltage to the motor controller (V)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Measured_RPM</a:t>
            </a:r>
            <a:r>
              <a:rPr lang="en-US">
                <a:ea typeface="+mn-lt"/>
                <a:cs typeface="+mn-lt"/>
              </a:rPr>
              <a:t>: Rotor speed (RPM, computed from sensor measurements)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Vibration_1</a:t>
            </a:r>
            <a:r>
              <a:rPr lang="en-US">
                <a:ea typeface="+mn-lt"/>
                <a:cs typeface="+mn-lt"/>
              </a:rPr>
              <a:t>: Signal from the first vibration sensor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Vibration_2</a:t>
            </a:r>
            <a:r>
              <a:rPr lang="en-US">
                <a:ea typeface="+mn-lt"/>
                <a:cs typeface="+mn-lt"/>
              </a:rPr>
              <a:t>: Signal from the second vibration sensor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Vibration_3</a:t>
            </a:r>
            <a:r>
              <a:rPr lang="en-US">
                <a:ea typeface="+mn-lt"/>
                <a:cs typeface="+mn-lt"/>
              </a:rPr>
              <a:t>: Signal from the third vibration sensor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600E47-78EC-01D0-98E1-C7E602417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597" y="1566715"/>
            <a:ext cx="5915025" cy="4429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724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484A4-F457-964A-325C-740D281E9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Outlier / Missing Value / Class Distribution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C84E7C-EED9-1976-095F-556B6D8273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8947502"/>
              </p:ext>
            </p:extLst>
          </p:nvPr>
        </p:nvGraphicFramePr>
        <p:xfrm>
          <a:off x="700088" y="1887682"/>
          <a:ext cx="6141686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843">
                  <a:extLst>
                    <a:ext uri="{9D8B030D-6E8A-4147-A177-3AD203B41FA5}">
                      <a16:colId xmlns:a16="http://schemas.microsoft.com/office/drawing/2014/main" val="481820213"/>
                    </a:ext>
                  </a:extLst>
                </a:gridCol>
                <a:gridCol w="3070843">
                  <a:extLst>
                    <a:ext uri="{9D8B030D-6E8A-4147-A177-3AD203B41FA5}">
                      <a16:colId xmlns:a16="http://schemas.microsoft.com/office/drawing/2014/main" val="2652005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Problem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600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Outliers: "</a:t>
                      </a:r>
                      <a:r>
                        <a:rPr lang="en-US" err="1"/>
                        <a:t>Measured_RPM</a:t>
                      </a:r>
                      <a:r>
                        <a:rPr lang="en-US"/>
                        <a:t>" between [-24000;3400] while it should be approximately in [ 630; 2400]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Keep only the values in the admissible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937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Missing Values : No missing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//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539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Label distribution : Homogeneous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//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04409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Memory Limitation : too many lines, RAM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 took only a sample of each unique '</a:t>
                      </a:r>
                      <a:r>
                        <a:rPr lang="en-US" err="1"/>
                        <a:t>V_in</a:t>
                      </a:r>
                      <a:r>
                        <a:rPr lang="en-US"/>
                        <a:t>' of each dataset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The length of the sample is a user-chosen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57244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9A3E191-C824-8696-0E94-9776C90F4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493" y="2215861"/>
            <a:ext cx="4572288" cy="309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48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4EF05-0B7B-8FA9-BA4B-9D8C8D12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RAW Data Visualization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555F2-7151-567A-30E6-C1CEE4D11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45" y="1924627"/>
            <a:ext cx="4493047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Vibration can normally be represented as a sinusoidal waveform.</a:t>
            </a:r>
          </a:p>
        </p:txBody>
      </p:sp>
      <p:pic>
        <p:nvPicPr>
          <p:cNvPr id="4" name="Picture 3" descr="fonction sinusoidale du temps">
            <a:extLst>
              <a:ext uri="{FF2B5EF4-FFF2-40B4-BE49-F238E27FC236}">
                <a16:creationId xmlns:a16="http://schemas.microsoft.com/office/drawing/2014/main" id="{B1C2B7C5-FD48-7637-BF2E-4525CD68F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78" y="2817154"/>
            <a:ext cx="4350834" cy="28499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9A1B27-AC14-DD55-25B6-20CFD6E83E1A}"/>
              </a:ext>
            </a:extLst>
          </p:cNvPr>
          <p:cNvSpPr txBox="1"/>
          <p:nvPr/>
        </p:nvSpPr>
        <p:spPr>
          <a:xfrm>
            <a:off x="2203041" y="5666534"/>
            <a:ext cx="13793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u="sng"/>
              <a:t>Expected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6ED2B5-F64C-B9BA-DA27-D2573D733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386" y="2812196"/>
            <a:ext cx="5712446" cy="2859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B59004-F029-4A57-6AE4-7DCBDF8A716F}"/>
              </a:ext>
            </a:extLst>
          </p:cNvPr>
          <p:cNvSpPr txBox="1"/>
          <p:nvPr/>
        </p:nvSpPr>
        <p:spPr>
          <a:xfrm>
            <a:off x="7983090" y="5666534"/>
            <a:ext cx="13793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u="sng"/>
              <a:t>Obtained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E07567B-6AAC-C4D9-BA64-2E10825C83A9}"/>
              </a:ext>
            </a:extLst>
          </p:cNvPr>
          <p:cNvSpPr txBox="1">
            <a:spLocks/>
          </p:cNvSpPr>
          <p:nvPr/>
        </p:nvSpPr>
        <p:spPr>
          <a:xfrm>
            <a:off x="5806035" y="1928344"/>
            <a:ext cx="6295827" cy="3739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Not always the case due to noisy data (assembly &amp; measurement inaccuracies )</a:t>
            </a:r>
          </a:p>
        </p:txBody>
      </p:sp>
    </p:spTree>
    <p:extLst>
      <p:ext uri="{BB962C8B-B14F-4D97-AF65-F5344CB8AC3E}">
        <p14:creationId xmlns:p14="http://schemas.microsoft.com/office/powerpoint/2010/main" val="3422699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24EB-A571-917D-B364-0C0F6B1B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Data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1D1CE-BF50-D4F3-241F-9521515BB320}"/>
              </a:ext>
            </a:extLst>
          </p:cNvPr>
          <p:cNvSpPr txBox="1"/>
          <p:nvPr/>
        </p:nvSpPr>
        <p:spPr>
          <a:xfrm>
            <a:off x="578043" y="1629892"/>
            <a:ext cx="108975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We have to create new features such as the mean, the skewness, kurtosis …. to find valuable information on the signal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9D07B-453E-0DEB-000B-9F0D19411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4" y="2376254"/>
            <a:ext cx="6813626" cy="37410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6C2B25-19E8-F2FE-EF99-D0EBB644E6A7}"/>
              </a:ext>
            </a:extLst>
          </p:cNvPr>
          <p:cNvSpPr txBox="1"/>
          <p:nvPr/>
        </p:nvSpPr>
        <p:spPr>
          <a:xfrm>
            <a:off x="7782746" y="2777604"/>
            <a:ext cx="43009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"</a:t>
            </a:r>
            <a:r>
              <a:rPr lang="en-US" err="1"/>
              <a:t>Crest_Factor</a:t>
            </a:r>
            <a:r>
              <a:rPr lang="en-US"/>
              <a:t>" measures the signal's impulsivity (</a:t>
            </a:r>
            <a:r>
              <a:rPr lang="en-US" err="1"/>
              <a:t>e.g</a:t>
            </a:r>
            <a:r>
              <a:rPr lang="en-US"/>
              <a:t> shock presence)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F0C43-ED68-D973-A495-C05C4A292284}"/>
              </a:ext>
            </a:extLst>
          </p:cNvPr>
          <p:cNvSpPr txBox="1"/>
          <p:nvPr/>
        </p:nvSpPr>
        <p:spPr>
          <a:xfrm>
            <a:off x="7358139" y="3793526"/>
            <a:ext cx="483278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One might think that higher imbalance implies more shock implies higher </a:t>
            </a:r>
            <a:r>
              <a:rPr lang="en-US" err="1"/>
              <a:t>Crest_Factor</a:t>
            </a:r>
            <a:r>
              <a:rPr lang="en-US"/>
              <a:t> but it's not true. In fact, it might cause a centrifugal force which tend to make the signal smoother.</a:t>
            </a:r>
          </a:p>
          <a:p>
            <a:endParaRPr lang="en-US"/>
          </a:p>
          <a:p>
            <a:r>
              <a:rPr lang="en-US"/>
              <a:t>Either way, it's a great features to distinguish between label 4 and the other.</a:t>
            </a:r>
          </a:p>
        </p:txBody>
      </p:sp>
    </p:spTree>
    <p:extLst>
      <p:ext uri="{BB962C8B-B14F-4D97-AF65-F5344CB8AC3E}">
        <p14:creationId xmlns:p14="http://schemas.microsoft.com/office/powerpoint/2010/main" val="1051833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D7B9-35F5-A949-49F1-63CE16F74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Data visualization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2070C1-76C5-D15A-811C-3C2E776351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676" y="2221992"/>
            <a:ext cx="7107938" cy="39071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DFF68C-BA91-BABA-9EC9-FB37B2969132}"/>
              </a:ext>
            </a:extLst>
          </p:cNvPr>
          <p:cNvSpPr txBox="1"/>
          <p:nvPr/>
        </p:nvSpPr>
        <p:spPr>
          <a:xfrm>
            <a:off x="6727903" y="3967976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Difference between Label 0 and 4 : Clear</a:t>
            </a:r>
          </a:p>
          <a:p>
            <a:pPr algn="ctr"/>
            <a:r>
              <a:rPr lang="en-US"/>
              <a:t>Difference between label 0,1,2,3 : Subtle</a:t>
            </a:r>
          </a:p>
          <a:p>
            <a:pPr algn="ctr"/>
            <a:endParaRPr lang="en-US"/>
          </a:p>
          <a:p>
            <a:pPr algn="ctr"/>
            <a:r>
              <a:rPr lang="en-US" err="1"/>
              <a:t>XGBoost</a:t>
            </a:r>
            <a:r>
              <a:rPr lang="en-US"/>
              <a:t> trained on these temporal feature :</a:t>
            </a:r>
          </a:p>
          <a:p>
            <a:pPr algn="ctr"/>
            <a:r>
              <a:rPr lang="en-US"/>
              <a:t>Hit a plateau of 0.7 F-1 score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6E791-4C2B-720A-2600-DFC9D248E5DA}"/>
              </a:ext>
            </a:extLst>
          </p:cNvPr>
          <p:cNvSpPr txBox="1"/>
          <p:nvPr/>
        </p:nvSpPr>
        <p:spPr>
          <a:xfrm>
            <a:off x="7923291" y="2230956"/>
            <a:ext cx="369829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Skewness is the asymmetry of the signal, and this graph confirms the latter as label 4 is more centered in 0 than the other.</a:t>
            </a:r>
          </a:p>
        </p:txBody>
      </p:sp>
    </p:spTree>
    <p:extLst>
      <p:ext uri="{BB962C8B-B14F-4D97-AF65-F5344CB8AC3E}">
        <p14:creationId xmlns:p14="http://schemas.microsoft.com/office/powerpoint/2010/main" val="2764703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59CB7-A411-E998-05D4-AC571E99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Small Recap of  the model and score obtained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9477E-1FA1-07F7-93BC-9ED7FA624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85236"/>
            <a:ext cx="10691265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Until now, I used several algorithms on these temporal data :</a:t>
            </a:r>
          </a:p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B695016-D5F1-6861-DE54-16E53D054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25303"/>
              </p:ext>
            </p:extLst>
          </p:nvPr>
        </p:nvGraphicFramePr>
        <p:xfrm>
          <a:off x="357582" y="2395058"/>
          <a:ext cx="7867918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300795395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619237576"/>
                    </a:ext>
                  </a:extLst>
                </a:gridCol>
                <a:gridCol w="1876136">
                  <a:extLst>
                    <a:ext uri="{9D8B030D-6E8A-4147-A177-3AD203B41FA5}">
                      <a16:colId xmlns:a16="http://schemas.microsoft.com/office/drawing/2014/main" val="458311465"/>
                    </a:ext>
                  </a:extLst>
                </a:gridCol>
                <a:gridCol w="1907462">
                  <a:extLst>
                    <a:ext uri="{9D8B030D-6E8A-4147-A177-3AD203B41FA5}">
                      <a16:colId xmlns:a16="http://schemas.microsoft.com/office/drawing/2014/main" val="538078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Weighted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Trained 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114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Raw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6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Raw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40468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r>
                        <a:rPr lang="en-US" err="1"/>
                        <a:t>XGBoost</a:t>
                      </a:r>
                      <a:r>
                        <a:rPr lang="en-US"/>
                        <a:t> (x2)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Raw data / Raw data + new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3445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16EDE5E-20EF-EEC0-1393-3DCAF312B263}"/>
              </a:ext>
            </a:extLst>
          </p:cNvPr>
          <p:cNvSpPr txBox="1"/>
          <p:nvPr/>
        </p:nvSpPr>
        <p:spPr>
          <a:xfrm>
            <a:off x="8630775" y="2963741"/>
            <a:ext cx="288350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New features include :</a:t>
            </a:r>
          </a:p>
          <a:p>
            <a:r>
              <a:rPr lang="en-US" err="1"/>
              <a:t>Crest_Factor</a:t>
            </a:r>
            <a:r>
              <a:rPr lang="en-US"/>
              <a:t>,</a:t>
            </a:r>
          </a:p>
          <a:p>
            <a:r>
              <a:rPr lang="en-US"/>
              <a:t>Skewness,</a:t>
            </a:r>
          </a:p>
          <a:p>
            <a:r>
              <a:rPr lang="en-US"/>
              <a:t>Kurtosis,</a:t>
            </a:r>
          </a:p>
          <a:p>
            <a:r>
              <a:rPr lang="en-US"/>
              <a:t>RMS,</a:t>
            </a:r>
          </a:p>
          <a:p>
            <a:r>
              <a:rPr lang="en-US"/>
              <a:t>Peak-to-Peak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5D09DD-BA4B-DBD7-5577-9E5D946590EC}"/>
              </a:ext>
            </a:extLst>
          </p:cNvPr>
          <p:cNvSpPr txBox="1"/>
          <p:nvPr/>
        </p:nvSpPr>
        <p:spPr>
          <a:xfrm>
            <a:off x="2751691" y="5332682"/>
            <a:ext cx="89435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Not all features were relevant to make graph but can still help </a:t>
            </a:r>
            <a:r>
              <a:rPr lang="en-US" err="1"/>
              <a:t>XGBoost</a:t>
            </a:r>
            <a:r>
              <a:rPr lang="en-US"/>
              <a:t> model</a:t>
            </a:r>
          </a:p>
        </p:txBody>
      </p:sp>
      <p:pic>
        <p:nvPicPr>
          <p:cNvPr id="10" name="Graphic 9" descr="Avertissement contour">
            <a:extLst>
              <a:ext uri="{FF2B5EF4-FFF2-40B4-BE49-F238E27FC236}">
                <a16:creationId xmlns:a16="http://schemas.microsoft.com/office/drawing/2014/main" id="{24413EA5-F905-F57A-28C2-2918D3985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4459" y="49790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48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45633-39CE-546F-F8B7-8511B7740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Popular solution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9934CB-2D58-16C5-A50A-AB5282E2A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3420" y="1710232"/>
            <a:ext cx="5400242" cy="37593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158507-5E60-C435-5848-3D19A55F4A3B}"/>
              </a:ext>
            </a:extLst>
          </p:cNvPr>
          <p:cNvSpPr txBox="1"/>
          <p:nvPr/>
        </p:nvSpPr>
        <p:spPr>
          <a:xfrm>
            <a:off x="375920" y="2626360"/>
            <a:ext cx="609600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FFT is a fast algorithm that converts a signal from the time domain to the frequency domain.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It decomposes a complex signal into a sum of simple sinusoidal waves.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It reveals invisible patterns in the raw signal like high oscillation and spectrum frequency pics.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Window Size : High ==&gt; we know what but not when</a:t>
            </a:r>
          </a:p>
          <a:p>
            <a:r>
              <a:rPr lang="en-US" dirty="0"/>
              <a:t>                   L​​ow ==&gt; we know when but not why</a:t>
            </a:r>
          </a:p>
          <a:p>
            <a:endParaRPr lang="en-US" dirty="0"/>
          </a:p>
          <a:p>
            <a:r>
              <a:rPr lang="en-US" dirty="0"/>
              <a:t>==&gt; optimal empirical value N=650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25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F8722-C758-AD7C-FEC1-4B7D631DA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FFT Visualization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017135-949B-4DA9-D1EA-F1D468B6C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1893" y="1774952"/>
            <a:ext cx="7059149" cy="37398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E5DAAB-4B0F-00E0-571B-700C2F6C1A1E}"/>
              </a:ext>
            </a:extLst>
          </p:cNvPr>
          <p:cNvSpPr txBox="1"/>
          <p:nvPr/>
        </p:nvSpPr>
        <p:spPr>
          <a:xfrm>
            <a:off x="1168400" y="5501640"/>
            <a:ext cx="986536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oogle Sans Text"/>
                <a:ea typeface="Google Sans Text"/>
                <a:cs typeface="Google Sans Text"/>
              </a:rPr>
              <a:t>Thanks to the shift to the frequency domain, the analysis of the average amplitude spectrum as a function of frequency finally reveals a much clearer separation between the different levels of defect.</a:t>
            </a:r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08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939D9-4402-1606-CD89-3F3548E6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Overfitting and </a:t>
            </a:r>
            <a:r>
              <a:rPr lang="en-US" err="1"/>
              <a:t>Optimisation</a:t>
            </a:r>
            <a:r>
              <a:rPr lang="en-US"/>
              <a:t> 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319DB2-58CB-2168-AA8B-CD9D918C2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46072"/>
            <a:ext cx="10691265" cy="373989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Temporal Feature ==&gt; label 0,4</a:t>
            </a:r>
          </a:p>
          <a:p>
            <a:r>
              <a:rPr lang="en-US" dirty="0"/>
              <a:t>FFT Feature ==&gt; 1,2,3</a:t>
            </a:r>
          </a:p>
          <a:p>
            <a:endParaRPr lang="en-US" dirty="0"/>
          </a:p>
          <a:p>
            <a:r>
              <a:rPr lang="en-US" dirty="0"/>
              <a:t>Standard Scaler ==&gt; Scale issue between features</a:t>
            </a:r>
          </a:p>
          <a:p>
            <a:r>
              <a:rPr lang="en-US" dirty="0" err="1"/>
              <a:t>Max_depth</a:t>
            </a:r>
            <a:r>
              <a:rPr lang="en-US" dirty="0"/>
              <a:t> [7,9,11] ==&gt; depth of each tree </a:t>
            </a:r>
          </a:p>
          <a:p>
            <a:r>
              <a:rPr lang="en-US" dirty="0" err="1"/>
              <a:t>Learning_rate</a:t>
            </a:r>
            <a:r>
              <a:rPr lang="en-US" dirty="0"/>
              <a:t> [0.05,0.1] ==&gt; low value, lower overfitting risk</a:t>
            </a:r>
          </a:p>
          <a:p>
            <a:r>
              <a:rPr lang="en-US" dirty="0" err="1"/>
              <a:t>N_estimator</a:t>
            </a:r>
            <a:r>
              <a:rPr lang="en-US" dirty="0"/>
              <a:t> [200,400] ==&gt; lower learning rate require normally more iterations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GridSearch</a:t>
            </a:r>
            <a:r>
              <a:rPr lang="en-US" dirty="0"/>
              <a:t> used to find optimal hyperparameters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B2A4B6E3-E6EB-7C68-C934-5B332DADC70F}"/>
              </a:ext>
            </a:extLst>
          </p:cNvPr>
          <p:cNvSpPr/>
          <p:nvPr/>
        </p:nvSpPr>
        <p:spPr>
          <a:xfrm>
            <a:off x="4698203" y="1961229"/>
            <a:ext cx="846666" cy="60387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845FFA-D8BC-BB84-C5F5-063861966038}"/>
              </a:ext>
            </a:extLst>
          </p:cNvPr>
          <p:cNvSpPr txBox="1"/>
          <p:nvPr/>
        </p:nvSpPr>
        <p:spPr>
          <a:xfrm>
            <a:off x="5718885" y="2090420"/>
            <a:ext cx="37352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2 domains are complementary</a:t>
            </a:r>
          </a:p>
        </p:txBody>
      </p:sp>
    </p:spTree>
    <p:extLst>
      <p:ext uri="{BB962C8B-B14F-4D97-AF65-F5344CB8AC3E}">
        <p14:creationId xmlns:p14="http://schemas.microsoft.com/office/powerpoint/2010/main" val="2118211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BB80A-74CB-BE69-6587-FEACC3AC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Result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97BC9F-CC01-4177-E7C6-B369A82C6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710" y="1709737"/>
            <a:ext cx="8877300" cy="695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42B38B-032E-0857-DB51-D5B9954CC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835" y="3090545"/>
            <a:ext cx="5353050" cy="2343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5A702F-7E1D-BA40-08EB-46F533951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330" y="2645410"/>
            <a:ext cx="3802380" cy="322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47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5BEFDE-A8FF-F958-ADFF-F581DA815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749" y="909638"/>
            <a:ext cx="5201121" cy="1318062"/>
          </a:xfrm>
        </p:spPr>
        <p:txBody>
          <a:bodyPr>
            <a:normAutofit/>
          </a:bodyPr>
          <a:lstStyle/>
          <a:p>
            <a:r>
              <a:rPr lang="en-US" dirty="0"/>
              <a:t>Limitations / possible  tuning</a:t>
            </a:r>
          </a:p>
        </p:txBody>
      </p:sp>
      <p:pic>
        <p:nvPicPr>
          <p:cNvPr id="4" name="Picture 3" descr="Want to know how Deep Learning works? Here’s a quick guide for everyone.">
            <a:extLst>
              <a:ext uri="{FF2B5EF4-FFF2-40B4-BE49-F238E27FC236}">
                <a16:creationId xmlns:a16="http://schemas.microsoft.com/office/drawing/2014/main" id="{8291B78E-2950-302B-82ED-DCA601E5B2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10" r="25140" b="-1"/>
          <a:stretch>
            <a:fillRect/>
          </a:stretch>
        </p:blipFill>
        <p:spPr>
          <a:xfrm>
            <a:off x="20" y="10"/>
            <a:ext cx="5686740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739" y="722376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7C4BA-83B8-B9F2-98CD-040C49483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838" y="2236843"/>
            <a:ext cx="5201121" cy="3931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analyse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spectrale</a:t>
            </a:r>
            <a:r>
              <a:rPr lang="en-US" dirty="0">
                <a:ea typeface="+mn-lt"/>
                <a:cs typeface="+mn-lt"/>
              </a:rPr>
              <a:t> by </a:t>
            </a:r>
            <a:r>
              <a:rPr lang="en-US" b="1" dirty="0" err="1">
                <a:ea typeface="+mn-lt"/>
                <a:cs typeface="+mn-lt"/>
              </a:rPr>
              <a:t>Cepstrum</a:t>
            </a:r>
            <a:r>
              <a:rPr lang="en-US" b="1" dirty="0">
                <a:ea typeface="+mn-lt"/>
                <a:cs typeface="+mn-lt"/>
              </a:rPr>
              <a:t> : </a:t>
            </a:r>
            <a:r>
              <a:rPr lang="en-US" dirty="0">
                <a:ea typeface="+mn-lt"/>
                <a:cs typeface="+mn-lt"/>
              </a:rPr>
              <a:t>better isolate the defect harmonics in the noise.</a:t>
            </a:r>
          </a:p>
          <a:p>
            <a:r>
              <a:rPr lang="en-US" dirty="0">
                <a:ea typeface="+mn-lt"/>
                <a:cs typeface="+mn-lt"/>
              </a:rPr>
              <a:t>Short-Time Fourier Transform (STFT) with sliding windows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Deep Learning (ANN etc...) </a:t>
            </a:r>
          </a:p>
        </p:txBody>
      </p:sp>
    </p:spTree>
    <p:extLst>
      <p:ext uri="{BB962C8B-B14F-4D97-AF65-F5344CB8AC3E}">
        <p14:creationId xmlns:p14="http://schemas.microsoft.com/office/powerpoint/2010/main" val="338088801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ChronicleVTI</vt:lpstr>
      <vt:lpstr>Preventive maintenance of Propeller </vt:lpstr>
      <vt:lpstr>Business Case :</vt:lpstr>
      <vt:lpstr>Setup &amp; Objectives</vt:lpstr>
      <vt:lpstr>Setup / Data collection</vt:lpstr>
      <vt:lpstr>Dataset Exploration</vt:lpstr>
      <vt:lpstr>Outlier / Missing Value / Class Distribution</vt:lpstr>
      <vt:lpstr>RAW Data Visualization </vt:lpstr>
      <vt:lpstr>New Data visualization</vt:lpstr>
      <vt:lpstr>New Data visualization</vt:lpstr>
      <vt:lpstr>Small Recap of  the model and score obtained</vt:lpstr>
      <vt:lpstr>Popular solution</vt:lpstr>
      <vt:lpstr>FFT Visualization</vt:lpstr>
      <vt:lpstr>Overfitting and Optimisation </vt:lpstr>
      <vt:lpstr>Final Result</vt:lpstr>
      <vt:lpstr>Limitations / possible  tuning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170</cp:revision>
  <dcterms:created xsi:type="dcterms:W3CDTF">2025-12-11T11:39:24Z</dcterms:created>
  <dcterms:modified xsi:type="dcterms:W3CDTF">2025-12-12T20:19:51Z</dcterms:modified>
</cp:coreProperties>
</file>